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219456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 roundtripDataSignature="AMtx7miV+38TERADUkIzStmFeUW5pQrz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34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34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34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34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34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34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34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34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34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 name="Google Shape;1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B AI" type="tx">
  <p:cSld name="TITLE_AND_BODY">
    <p:spTree>
      <p:nvGrpSpPr>
        <p:cNvPr id="9" name="Shape 9"/>
        <p:cNvGrpSpPr/>
        <p:nvPr/>
      </p:nvGrpSpPr>
      <p:grpSpPr>
        <a:xfrm>
          <a:off x="0" y="0"/>
          <a:ext cx="0" cy="0"/>
          <a:chOff x="0" y="0"/>
          <a:chExt cx="0" cy="0"/>
        </a:xfrm>
      </p:grpSpPr>
      <p:sp>
        <p:nvSpPr>
          <p:cNvPr id="10" name="Google Shape;10;p3"/>
          <p:cNvSpPr txBox="1"/>
          <p:nvPr>
            <p:ph idx="12" type="sldNum"/>
          </p:nvPr>
        </p:nvSpPr>
        <p:spPr>
          <a:xfrm>
            <a:off x="15910559" y="19756119"/>
            <a:ext cx="7680961" cy="11684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B AI Research ">
  <p:cSld name="FB AI Research ">
    <p:spTree>
      <p:nvGrpSpPr>
        <p:cNvPr id="11" name="Shape 11"/>
        <p:cNvGrpSpPr/>
        <p:nvPr/>
      </p:nvGrpSpPr>
      <p:grpSpPr>
        <a:xfrm>
          <a:off x="0" y="0"/>
          <a:ext cx="0" cy="0"/>
          <a:chOff x="0" y="0"/>
          <a:chExt cx="0" cy="0"/>
        </a:xfrm>
      </p:grpSpPr>
      <p:sp>
        <p:nvSpPr>
          <p:cNvPr id="12" name="Google Shape;12;p4"/>
          <p:cNvSpPr txBox="1"/>
          <p:nvPr>
            <p:ph idx="12" type="sldNum"/>
          </p:nvPr>
        </p:nvSpPr>
        <p:spPr>
          <a:xfrm>
            <a:off x="15910559" y="19756119"/>
            <a:ext cx="7680961" cy="11684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645920" y="294640"/>
            <a:ext cx="29626561" cy="4826001"/>
          </a:xfrm>
          <a:prstGeom prst="rect">
            <a:avLst/>
          </a:prstGeom>
          <a:noFill/>
          <a:ln>
            <a:noFill/>
          </a:ln>
        </p:spPr>
        <p:txBody>
          <a:bodyPr anchorCtr="0" anchor="ctr" bIns="45700" lIns="45700" spcFirstLastPara="1" rIns="45700" wrap="square" tIns="45700">
            <a:noAutofit/>
          </a:bodyPr>
          <a:lstStyle>
            <a:lvl1pPr lvl="0"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0"/>
              <a:buFont typeface="Calibri"/>
              <a:buNone/>
              <a:defRPr b="0" i="0" sz="14000" u="none" cap="none" strike="noStrike">
                <a:solidFill>
                  <a:srgbClr val="000000"/>
                </a:solidFill>
                <a:latin typeface="Calibri"/>
                <a:ea typeface="Calibri"/>
                <a:cs typeface="Calibri"/>
                <a:sym typeface="Calibri"/>
              </a:defRPr>
            </a:lvl9pPr>
          </a:lstStyle>
          <a:p/>
        </p:txBody>
      </p:sp>
      <p:sp>
        <p:nvSpPr>
          <p:cNvPr id="7" name="Google Shape;7;p2"/>
          <p:cNvSpPr txBox="1"/>
          <p:nvPr>
            <p:ph idx="1" type="body"/>
          </p:nvPr>
        </p:nvSpPr>
        <p:spPr>
          <a:xfrm>
            <a:off x="1645920" y="5120640"/>
            <a:ext cx="29626561" cy="16824961"/>
          </a:xfrm>
          <a:prstGeom prst="rect">
            <a:avLst/>
          </a:prstGeom>
          <a:noFill/>
          <a:ln>
            <a:noFill/>
          </a:ln>
        </p:spPr>
        <p:txBody>
          <a:bodyPr anchorCtr="0" anchor="t" bIns="45700" lIns="45700" spcFirstLastPara="1" rIns="45700" wrap="square" tIns="45700">
            <a:noAutofit/>
          </a:bodyPr>
          <a:lstStyle>
            <a:lvl1pPr indent="-793750" lvl="0" marL="4572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1pPr>
            <a:lvl2pPr indent="-793750" lvl="1" marL="9144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2pPr>
            <a:lvl3pPr indent="-793750" lvl="2" marL="13716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3pPr>
            <a:lvl4pPr indent="-793750" lvl="3" marL="18288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4pPr>
            <a:lvl5pPr indent="-793750" lvl="4" marL="22860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5pPr>
            <a:lvl6pPr indent="-793750" lvl="5" marL="27432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6pPr>
            <a:lvl7pPr indent="-793750" lvl="6" marL="32004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7pPr>
            <a:lvl8pPr indent="-793750" lvl="7" marL="36576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8pPr>
            <a:lvl9pPr indent="-793750" lvl="8" marL="4114800" marR="0" rtl="0" algn="l">
              <a:lnSpc>
                <a:spcPct val="90000"/>
              </a:lnSpc>
              <a:spcBef>
                <a:spcPts val="3200"/>
              </a:spcBef>
              <a:spcAft>
                <a:spcPts val="0"/>
              </a:spcAft>
              <a:buClr>
                <a:srgbClr val="000000"/>
              </a:buClr>
              <a:buSzPts val="8900"/>
              <a:buFont typeface="Arial"/>
              <a:buChar char="•"/>
              <a:defRPr b="0" i="0" sz="8900" u="none" cap="none" strike="noStrike">
                <a:solidFill>
                  <a:srgbClr val="000000"/>
                </a:solidFill>
                <a:latin typeface="Calibri"/>
                <a:ea typeface="Calibri"/>
                <a:cs typeface="Calibri"/>
                <a:sym typeface="Calibri"/>
              </a:defRPr>
            </a:lvl9pPr>
          </a:lstStyle>
          <a:p/>
        </p:txBody>
      </p:sp>
      <p:sp>
        <p:nvSpPr>
          <p:cNvPr id="8" name="Google Shape;8;p2"/>
          <p:cNvSpPr txBox="1"/>
          <p:nvPr>
            <p:ph idx="12" type="sldNum"/>
          </p:nvPr>
        </p:nvSpPr>
        <p:spPr>
          <a:xfrm>
            <a:off x="15910559" y="19756119"/>
            <a:ext cx="7680961" cy="1168401"/>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5.png"/><Relationship Id="rId13" Type="http://schemas.openxmlformats.org/officeDocument/2006/relationships/image" Target="../media/image9.png"/><Relationship Id="rId12"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4.png"/><Relationship Id="rId15" Type="http://schemas.openxmlformats.org/officeDocument/2006/relationships/image" Target="../media/image12.png"/><Relationship Id="rId14" Type="http://schemas.openxmlformats.org/officeDocument/2006/relationships/image" Target="../media/image8.png"/><Relationship Id="rId16"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sp>
        <p:nvSpPr>
          <p:cNvPr id="17" name="Google Shape;17;p1"/>
          <p:cNvSpPr txBox="1"/>
          <p:nvPr/>
        </p:nvSpPr>
        <p:spPr>
          <a:xfrm>
            <a:off x="968275" y="784521"/>
            <a:ext cx="14466900" cy="1785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5500"/>
              <a:buFont typeface="Arial"/>
              <a:buNone/>
            </a:pPr>
            <a:r>
              <a:rPr lang="en-US" sz="5500"/>
              <a:t>Implicitly Learning Physics from Videos using a Joint-Embedding Predictive Architecture</a:t>
            </a:r>
            <a:endParaRPr/>
          </a:p>
        </p:txBody>
      </p:sp>
      <p:sp>
        <p:nvSpPr>
          <p:cNvPr id="18" name="Google Shape;18;p1"/>
          <p:cNvSpPr txBox="1"/>
          <p:nvPr/>
        </p:nvSpPr>
        <p:spPr>
          <a:xfrm>
            <a:off x="422360" y="3277450"/>
            <a:ext cx="9772200" cy="615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n-US" sz="3400"/>
              <a:t>Introduction</a:t>
            </a:r>
            <a:endParaRPr/>
          </a:p>
        </p:txBody>
      </p:sp>
      <p:sp>
        <p:nvSpPr>
          <p:cNvPr id="19" name="Google Shape;19;p1"/>
          <p:cNvSpPr txBox="1"/>
          <p:nvPr/>
        </p:nvSpPr>
        <p:spPr>
          <a:xfrm>
            <a:off x="445725" y="3859075"/>
            <a:ext cx="9629100" cy="5070300"/>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344854"/>
              </a:buClr>
              <a:buSzPts val="2100"/>
              <a:buFont typeface="Arial"/>
              <a:buNone/>
            </a:pPr>
            <a:r>
              <a:rPr lang="en-US" sz="2100">
                <a:solidFill>
                  <a:srgbClr val="344854"/>
                </a:solidFill>
              </a:rPr>
              <a:t>Existing self-supervised vision models are not good at learning physics implicitly</a:t>
            </a:r>
            <a:r>
              <a:rPr lang="en-US" sz="2100">
                <a:solidFill>
                  <a:srgbClr val="344854"/>
                </a:solidFill>
              </a:rPr>
              <a:t>,</a:t>
            </a:r>
            <a:r>
              <a:rPr lang="en-US" sz="2100">
                <a:solidFill>
                  <a:srgbClr val="344854"/>
                </a:solidFill>
              </a:rPr>
              <a:t> which some researchers believe is due to them learning to directly reproduce pixels rather than learn to reproduce </a:t>
            </a:r>
            <a:r>
              <a:rPr lang="en-US" sz="2100">
                <a:solidFill>
                  <a:srgbClr val="344854"/>
                </a:solidFill>
              </a:rPr>
              <a:t>semantic</a:t>
            </a:r>
            <a:r>
              <a:rPr lang="en-US" sz="2100">
                <a:solidFill>
                  <a:srgbClr val="344854"/>
                </a:solidFill>
              </a:rPr>
              <a:t> information. The Joint Embedding Predictive Architecture was introduced by Assran et al</a:t>
            </a:r>
            <a:r>
              <a:rPr lang="en-US" sz="2100">
                <a:solidFill>
                  <a:srgbClr val="344854"/>
                </a:solidFill>
              </a:rPr>
              <a:t>.</a:t>
            </a:r>
            <a:r>
              <a:rPr lang="en-US" sz="2100">
                <a:solidFill>
                  <a:srgbClr val="344854"/>
                </a:solidFill>
              </a:rPr>
              <a:t> (2023) to train image encoders to encode semantic information that could be used to reproduce the semantic information that was masked out of an image. The V-JEPA architecture by Bardes, A. et al. (2024) expanded this to video to teach vision models to learn information </a:t>
            </a:r>
            <a:r>
              <a:rPr lang="en-US" sz="2100">
                <a:solidFill>
                  <a:srgbClr val="344854"/>
                </a:solidFill>
              </a:rPr>
              <a:t>useful for modeling physics. More recently Drozdov, K. et al. (2024) modified the JEPA architecture to generate frames in simple datasets like Moving MNIST, and then train a linear probe to extract physical metrics like velocity to evaluate the models ability to understand physics just from self-supervised training. We reproduce Drozdov, K. et al  model and train it on a new dataset with more advanced physics.</a:t>
            </a:r>
            <a:endParaRPr sz="2100">
              <a:solidFill>
                <a:srgbClr val="344854"/>
              </a:solidFill>
            </a:endParaRPr>
          </a:p>
        </p:txBody>
      </p:sp>
      <p:sp>
        <p:nvSpPr>
          <p:cNvPr id="20" name="Google Shape;20;p1"/>
          <p:cNvSpPr txBox="1"/>
          <p:nvPr/>
        </p:nvSpPr>
        <p:spPr>
          <a:xfrm>
            <a:off x="11969001" y="8851165"/>
            <a:ext cx="9130800" cy="292500"/>
          </a:xfrm>
          <a:prstGeom prst="rect">
            <a:avLst/>
          </a:prstGeom>
          <a:noFill/>
          <a:ln>
            <a:noFill/>
          </a:ln>
        </p:spPr>
        <p:txBody>
          <a:bodyPr anchorCtr="0" anchor="t" bIns="45700" lIns="45700" spcFirstLastPara="1" rIns="45700" wrap="square" tIns="45700">
            <a:spAutoFit/>
          </a:bodyPr>
          <a:lstStyle/>
          <a:p>
            <a:pPr indent="0" lvl="0" marL="0" marR="0" rtl="0" algn="ctr">
              <a:lnSpc>
                <a:spcPct val="120000"/>
              </a:lnSpc>
              <a:spcBef>
                <a:spcPts val="0"/>
              </a:spcBef>
              <a:spcAft>
                <a:spcPts val="0"/>
              </a:spcAft>
              <a:buClr>
                <a:srgbClr val="344854"/>
              </a:buClr>
              <a:buSzPts val="2100"/>
              <a:buFont typeface="Arial"/>
              <a:buNone/>
            </a:pPr>
            <a:r>
              <a:rPr lang="en-US" sz="1300">
                <a:solidFill>
                  <a:srgbClr val="344854"/>
                </a:solidFill>
              </a:rPr>
              <a:t>Yellow objects are model predictions, purple objects are the training data, and red shows where they overlap.</a:t>
            </a:r>
            <a:endParaRPr sz="1300">
              <a:solidFill>
                <a:srgbClr val="344854"/>
              </a:solidFill>
            </a:endParaRPr>
          </a:p>
        </p:txBody>
      </p:sp>
      <p:sp>
        <p:nvSpPr>
          <p:cNvPr id="21" name="Google Shape;21;p1"/>
          <p:cNvSpPr txBox="1"/>
          <p:nvPr/>
        </p:nvSpPr>
        <p:spPr>
          <a:xfrm>
            <a:off x="11313950" y="3489731"/>
            <a:ext cx="9064500" cy="615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n-US" sz="3400"/>
              <a:t>Predicting future frames</a:t>
            </a:r>
            <a:endParaRPr/>
          </a:p>
        </p:txBody>
      </p:sp>
      <p:sp>
        <p:nvSpPr>
          <p:cNvPr id="22" name="Google Shape;22;p1"/>
          <p:cNvSpPr txBox="1"/>
          <p:nvPr/>
        </p:nvSpPr>
        <p:spPr>
          <a:xfrm>
            <a:off x="12002151" y="4021944"/>
            <a:ext cx="9064500" cy="307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100"/>
              <a:buFont typeface="Arial"/>
              <a:buNone/>
            </a:pPr>
            <a:r>
              <a:t/>
            </a:r>
            <a:endParaRPr/>
          </a:p>
        </p:txBody>
      </p:sp>
      <p:sp>
        <p:nvSpPr>
          <p:cNvPr id="23" name="Google Shape;23;p1"/>
          <p:cNvSpPr txBox="1"/>
          <p:nvPr/>
        </p:nvSpPr>
        <p:spPr>
          <a:xfrm>
            <a:off x="445725" y="12884350"/>
            <a:ext cx="9629100" cy="615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n-US" sz="3400"/>
              <a:t>Dataset</a:t>
            </a:r>
            <a:endParaRPr/>
          </a:p>
        </p:txBody>
      </p:sp>
      <p:sp>
        <p:nvSpPr>
          <p:cNvPr id="24" name="Google Shape;24;p1"/>
          <p:cNvSpPr txBox="1"/>
          <p:nvPr/>
        </p:nvSpPr>
        <p:spPr>
          <a:xfrm>
            <a:off x="411975" y="13493950"/>
            <a:ext cx="10153800" cy="2355000"/>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344854"/>
              </a:buClr>
              <a:buSzPts val="2100"/>
              <a:buFont typeface="Arial"/>
              <a:buNone/>
            </a:pPr>
            <a:r>
              <a:rPr lang="en-US" sz="2100">
                <a:solidFill>
                  <a:srgbClr val="344854"/>
                </a:solidFill>
              </a:rPr>
              <a:t>A Moving MNIST-inspired dataset was created </a:t>
            </a:r>
            <a:r>
              <a:rPr lang="en-US" sz="2100">
                <a:solidFill>
                  <a:srgbClr val="344854"/>
                </a:solidFill>
              </a:rPr>
              <a:t>consisting of circles, triangles, and squares bouncing around in a square environment, with gravity and various losses modelled. This dataset consists of 10,000 randomized 20 frame sequences. Each sequence is cut in half for training, with the model using the first 10 frames as an input in order to predict the following 10 frames. The dataset also contains annotations for object class, position, and velocity.</a:t>
            </a:r>
            <a:endParaRPr>
              <a:solidFill>
                <a:srgbClr val="344854"/>
              </a:solidFill>
            </a:endParaRPr>
          </a:p>
        </p:txBody>
      </p:sp>
      <p:sp>
        <p:nvSpPr>
          <p:cNvPr id="25" name="Google Shape;25;p1"/>
          <p:cNvSpPr txBox="1"/>
          <p:nvPr/>
        </p:nvSpPr>
        <p:spPr>
          <a:xfrm>
            <a:off x="974025" y="20277639"/>
            <a:ext cx="9029700" cy="4926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344854"/>
              </a:buClr>
              <a:buSzPts val="1300"/>
              <a:buFont typeface="Arial"/>
              <a:buNone/>
            </a:pPr>
            <a:r>
              <a:rPr lang="en-US" sz="1300">
                <a:solidFill>
                  <a:srgbClr val="344854"/>
                </a:solidFill>
              </a:rPr>
              <a:t>Set of training images from iteration 522. Shows a triangle moving to the right and bouncing off the right wall. Top images are from the training portion, bottom images are from the test portion.</a:t>
            </a:r>
            <a:endParaRPr/>
          </a:p>
        </p:txBody>
      </p:sp>
      <p:grpSp>
        <p:nvGrpSpPr>
          <p:cNvPr id="26" name="Google Shape;26;p1"/>
          <p:cNvGrpSpPr/>
          <p:nvPr/>
        </p:nvGrpSpPr>
        <p:grpSpPr>
          <a:xfrm>
            <a:off x="22928463" y="17509456"/>
            <a:ext cx="9029802" cy="3281384"/>
            <a:chOff x="24530888" y="18542680"/>
            <a:chExt cx="7379701" cy="3127510"/>
          </a:xfrm>
        </p:grpSpPr>
        <p:sp>
          <p:nvSpPr>
            <p:cNvPr id="27" name="Google Shape;27;p1"/>
            <p:cNvSpPr txBox="1"/>
            <p:nvPr/>
          </p:nvSpPr>
          <p:spPr>
            <a:xfrm>
              <a:off x="24530889" y="18542680"/>
              <a:ext cx="7379700" cy="3960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References</a:t>
              </a:r>
              <a:endParaRPr/>
            </a:p>
          </p:txBody>
        </p:sp>
        <p:sp>
          <p:nvSpPr>
            <p:cNvPr id="28" name="Google Shape;28;p1"/>
            <p:cNvSpPr txBox="1"/>
            <p:nvPr/>
          </p:nvSpPr>
          <p:spPr>
            <a:xfrm>
              <a:off x="24530888" y="18938690"/>
              <a:ext cx="7379700" cy="2731500"/>
            </a:xfrm>
            <a:prstGeom prst="rect">
              <a:avLst/>
            </a:prstGeom>
            <a:noFill/>
            <a:ln>
              <a:noFill/>
            </a:ln>
          </p:spPr>
          <p:txBody>
            <a:bodyPr anchorCtr="0" anchor="b" bIns="45700" lIns="45700" spcFirstLastPara="1" rIns="45700" wrap="square" tIns="45700">
              <a:spAutoFit/>
            </a:bodyPr>
            <a:lstStyle/>
            <a:p>
              <a:pPr indent="0" lvl="0" marL="0" rtl="0" algn="l">
                <a:lnSpc>
                  <a:spcPct val="120000"/>
                </a:lnSpc>
                <a:spcBef>
                  <a:spcPts val="600"/>
                </a:spcBef>
                <a:spcAft>
                  <a:spcPts val="0"/>
                </a:spcAft>
                <a:buClr>
                  <a:schemeClr val="dk1"/>
                </a:buClr>
                <a:buSzPts val="1400"/>
                <a:buFont typeface="Arial"/>
                <a:buNone/>
              </a:pPr>
              <a:r>
                <a:rPr lang="en-US">
                  <a:solidFill>
                    <a:schemeClr val="dk1"/>
                  </a:solidFill>
                </a:rPr>
                <a:t>Katrina Drozdov et al. (2024). “Video Representation Learning with Joint-Embedding Predictive Architectures.”</a:t>
              </a:r>
              <a:r>
                <a:rPr lang="en-US">
                  <a:solidFill>
                    <a:srgbClr val="677B8C"/>
                  </a:solidFill>
                </a:rPr>
                <a:t> in: arXiv.</a:t>
              </a:r>
              <a:endParaRPr>
                <a:solidFill>
                  <a:srgbClr val="677B8C"/>
                </a:solidFill>
              </a:endParaRPr>
            </a:p>
            <a:p>
              <a:pPr indent="0" lvl="0" marL="0" marR="0" rtl="0" algn="l">
                <a:lnSpc>
                  <a:spcPct val="120000"/>
                </a:lnSpc>
                <a:spcBef>
                  <a:spcPts val="600"/>
                </a:spcBef>
                <a:spcAft>
                  <a:spcPts val="0"/>
                </a:spcAft>
                <a:buClr>
                  <a:srgbClr val="000000"/>
                </a:buClr>
                <a:buSzPts val="1400"/>
                <a:buFont typeface="Arial"/>
                <a:buNone/>
              </a:pPr>
              <a:r>
                <a:rPr lang="en-US">
                  <a:solidFill>
                    <a:schemeClr val="dk1"/>
                  </a:solidFill>
                </a:rPr>
                <a:t>Assran, M., Duval, Q., Misra, I., Bojanowski, P., Vincent, P., Rabbat, M., ... &amp; Ballas, N. (2023). “Self-supervised learning from images with a joint-embedding predictive architecture.”</a:t>
              </a:r>
              <a:r>
                <a:rPr lang="en-US">
                  <a:solidFill>
                    <a:srgbClr val="677B8C"/>
                  </a:solidFill>
                </a:rPr>
                <a:t> In Proceedings of the IEEE/CVF Conference on Computer Vision and Pattern Recognition (pp. 15619-15629).</a:t>
              </a:r>
              <a:endParaRPr>
                <a:solidFill>
                  <a:srgbClr val="677B8C"/>
                </a:solidFill>
              </a:endParaRPr>
            </a:p>
            <a:p>
              <a:pPr indent="0" lvl="0" marL="0" marR="0" rtl="0" algn="l">
                <a:lnSpc>
                  <a:spcPct val="120000"/>
                </a:lnSpc>
                <a:spcBef>
                  <a:spcPts val="600"/>
                </a:spcBef>
                <a:spcAft>
                  <a:spcPts val="0"/>
                </a:spcAft>
                <a:buClr>
                  <a:srgbClr val="000000"/>
                </a:buClr>
                <a:buSzPts val="1400"/>
                <a:buFont typeface="Arial"/>
                <a:buNone/>
              </a:pPr>
              <a:r>
                <a:rPr lang="en-US">
                  <a:solidFill>
                    <a:schemeClr val="dk1"/>
                  </a:solidFill>
                </a:rPr>
                <a:t>Zhangyang Gao et al.. (</a:t>
              </a:r>
              <a:r>
                <a:rPr lang="en-US">
                  <a:solidFill>
                    <a:schemeClr val="dk1"/>
                  </a:solidFill>
                </a:rPr>
                <a:t>2022)</a:t>
              </a:r>
              <a:r>
                <a:rPr lang="en-US">
                  <a:solidFill>
                    <a:schemeClr val="dk1"/>
                  </a:solidFill>
                </a:rPr>
                <a:t> “Simvp: Simpler yet better video prediction.”</a:t>
              </a:r>
              <a:r>
                <a:rPr lang="en-US">
                  <a:solidFill>
                    <a:srgbClr val="677B8C"/>
                  </a:solidFill>
                </a:rPr>
                <a:t> In Proceedings of the IEEE/CVF Conference on Computer Vision and Pattern Recognition, pp. 3170–3180, </a:t>
              </a:r>
              <a:endParaRPr>
                <a:solidFill>
                  <a:srgbClr val="677B8C"/>
                </a:solidFill>
              </a:endParaRPr>
            </a:p>
            <a:p>
              <a:pPr indent="0" lvl="0" marL="0" marR="0" rtl="0" algn="l">
                <a:lnSpc>
                  <a:spcPct val="120000"/>
                </a:lnSpc>
                <a:spcBef>
                  <a:spcPts val="600"/>
                </a:spcBef>
                <a:spcAft>
                  <a:spcPts val="0"/>
                </a:spcAft>
                <a:buClr>
                  <a:srgbClr val="000000"/>
                </a:buClr>
                <a:buSzPts val="1400"/>
                <a:buFont typeface="Arial"/>
                <a:buNone/>
              </a:pPr>
              <a:r>
                <a:rPr lang="en-US">
                  <a:solidFill>
                    <a:schemeClr val="dk1"/>
                  </a:solidFill>
                </a:rPr>
                <a:t>Ze Liu, Yutong Lin, Yue Cao, Han Hu, Yixuan Wei, Zheng Zhang, Stephen Lin, and Baining Guo (2021). “Swin transformer: Hierarchical vision transformer using shifted windows.”</a:t>
              </a:r>
              <a:r>
                <a:rPr lang="en-US">
                  <a:solidFill>
                    <a:srgbClr val="677B8C"/>
                  </a:solidFill>
                </a:rPr>
                <a:t> In Proceedings of the IEEE/CVF international conference on computer vision, pp. 10012–10022.</a:t>
              </a:r>
              <a:endParaRPr>
                <a:solidFill>
                  <a:srgbClr val="677B8C"/>
                </a:solidFill>
              </a:endParaRPr>
            </a:p>
          </p:txBody>
        </p:sp>
      </p:grpSp>
      <p:sp>
        <p:nvSpPr>
          <p:cNvPr id="29" name="Google Shape;29;p1"/>
          <p:cNvSpPr txBox="1"/>
          <p:nvPr/>
        </p:nvSpPr>
        <p:spPr>
          <a:xfrm>
            <a:off x="25905475" y="1154768"/>
            <a:ext cx="6052800" cy="415500"/>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000000"/>
              </a:buClr>
              <a:buSzPts val="2100"/>
              <a:buFont typeface="Arial"/>
              <a:buNone/>
            </a:pPr>
            <a:r>
              <a:rPr lang="en-US" sz="2100"/>
              <a:t>Raif Olson, Andrei </a:t>
            </a:r>
            <a:r>
              <a:rPr lang="en-US" sz="2100"/>
              <a:t>Gerashchenko</a:t>
            </a:r>
            <a:endParaRPr/>
          </a:p>
        </p:txBody>
      </p:sp>
      <p:sp>
        <p:nvSpPr>
          <p:cNvPr id="30" name="Google Shape;30;p1"/>
          <p:cNvSpPr txBox="1"/>
          <p:nvPr/>
        </p:nvSpPr>
        <p:spPr>
          <a:xfrm>
            <a:off x="22874503" y="9010834"/>
            <a:ext cx="9029700" cy="2925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344854"/>
              </a:buClr>
              <a:buSzPts val="1300"/>
              <a:buFont typeface="Arial"/>
              <a:buNone/>
            </a:pPr>
            <a:r>
              <a:rPr lang="en-US" sz="1300">
                <a:solidFill>
                  <a:srgbClr val="344854"/>
                </a:solidFill>
              </a:rPr>
              <a:t>Joint-Embedding Predictive Architecture (JEPA)</a:t>
            </a:r>
            <a:endParaRPr/>
          </a:p>
        </p:txBody>
      </p:sp>
      <p:grpSp>
        <p:nvGrpSpPr>
          <p:cNvPr id="31" name="Google Shape;31;p1"/>
          <p:cNvGrpSpPr/>
          <p:nvPr/>
        </p:nvGrpSpPr>
        <p:grpSpPr>
          <a:xfrm>
            <a:off x="10429325" y="14485825"/>
            <a:ext cx="12210152" cy="5696200"/>
            <a:chOff x="10556925" y="14853175"/>
            <a:chExt cx="12210152" cy="5696200"/>
          </a:xfrm>
        </p:grpSpPr>
        <p:pic>
          <p:nvPicPr>
            <p:cNvPr id="32" name="Google Shape;32;p1"/>
            <p:cNvPicPr preferRelativeResize="0"/>
            <p:nvPr/>
          </p:nvPicPr>
          <p:blipFill>
            <a:blip r:embed="rId3">
              <a:alphaModFix/>
            </a:blip>
            <a:stretch>
              <a:fillRect/>
            </a:stretch>
          </p:blipFill>
          <p:spPr>
            <a:xfrm>
              <a:off x="10556937" y="14853175"/>
              <a:ext cx="12210141" cy="4380200"/>
            </a:xfrm>
            <a:prstGeom prst="rect">
              <a:avLst/>
            </a:prstGeom>
            <a:noFill/>
            <a:ln>
              <a:noFill/>
            </a:ln>
          </p:spPr>
        </p:pic>
        <p:pic>
          <p:nvPicPr>
            <p:cNvPr id="33" name="Google Shape;33;p1"/>
            <p:cNvPicPr preferRelativeResize="0"/>
            <p:nvPr/>
          </p:nvPicPr>
          <p:blipFill>
            <a:blip r:embed="rId4">
              <a:alphaModFix/>
            </a:blip>
            <a:stretch>
              <a:fillRect/>
            </a:stretch>
          </p:blipFill>
          <p:spPr>
            <a:xfrm>
              <a:off x="10556925" y="19050156"/>
              <a:ext cx="12210149" cy="1499219"/>
            </a:xfrm>
            <a:prstGeom prst="rect">
              <a:avLst/>
            </a:prstGeom>
            <a:noFill/>
            <a:ln>
              <a:noFill/>
            </a:ln>
          </p:spPr>
        </p:pic>
      </p:grpSp>
      <p:grpSp>
        <p:nvGrpSpPr>
          <p:cNvPr id="34" name="Google Shape;34;p1"/>
          <p:cNvGrpSpPr/>
          <p:nvPr/>
        </p:nvGrpSpPr>
        <p:grpSpPr>
          <a:xfrm>
            <a:off x="22867128" y="9509011"/>
            <a:ext cx="9044450" cy="4827064"/>
            <a:chOff x="22918775" y="11375924"/>
            <a:chExt cx="9044450" cy="4827064"/>
          </a:xfrm>
        </p:grpSpPr>
        <p:sp>
          <p:nvSpPr>
            <p:cNvPr id="35" name="Google Shape;35;p1"/>
            <p:cNvSpPr txBox="1"/>
            <p:nvPr/>
          </p:nvSpPr>
          <p:spPr>
            <a:xfrm>
              <a:off x="22928580" y="11375924"/>
              <a:ext cx="9029700" cy="615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n-US" sz="3400"/>
                <a:t>Module Architectures</a:t>
              </a:r>
              <a:endParaRPr/>
            </a:p>
          </p:txBody>
        </p:sp>
        <p:sp>
          <p:nvSpPr>
            <p:cNvPr id="36" name="Google Shape;36;p1"/>
            <p:cNvSpPr txBox="1"/>
            <p:nvPr/>
          </p:nvSpPr>
          <p:spPr>
            <a:xfrm>
              <a:off x="22928580" y="12122105"/>
              <a:ext cx="9029700" cy="4155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100"/>
                <a:buFont typeface="Arial"/>
                <a:buNone/>
              </a:pPr>
              <a:r>
                <a:rPr lang="en-US" sz="2100"/>
                <a:t>Encoder and Decoder Architecture</a:t>
              </a:r>
              <a:endParaRPr/>
            </a:p>
          </p:txBody>
        </p:sp>
        <p:sp>
          <p:nvSpPr>
            <p:cNvPr id="37" name="Google Shape;37;p1"/>
            <p:cNvSpPr txBox="1"/>
            <p:nvPr/>
          </p:nvSpPr>
          <p:spPr>
            <a:xfrm>
              <a:off x="22918775" y="12716375"/>
              <a:ext cx="9039600" cy="1191300"/>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344854"/>
                </a:buClr>
                <a:buSzPts val="2100"/>
                <a:buFont typeface="Arial"/>
                <a:buNone/>
              </a:pPr>
              <a:r>
                <a:rPr lang="en-US" sz="2100">
                  <a:solidFill>
                    <a:srgbClr val="344854"/>
                  </a:solidFill>
                </a:rPr>
                <a:t>The encoder and decoder follow the architecture from SimVP by Gao et al., (2022) which consists of 8 convolutional layers with 3x3 kernels and 64 channels for all layers.</a:t>
              </a:r>
              <a:endParaRPr/>
            </a:p>
          </p:txBody>
        </p:sp>
        <p:sp>
          <p:nvSpPr>
            <p:cNvPr id="38" name="Google Shape;38;p1"/>
            <p:cNvSpPr txBox="1"/>
            <p:nvPr/>
          </p:nvSpPr>
          <p:spPr>
            <a:xfrm>
              <a:off x="22928580" y="14046892"/>
              <a:ext cx="9029700" cy="4155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100"/>
                <a:buFont typeface="Arial"/>
                <a:buNone/>
              </a:pPr>
              <a:r>
                <a:rPr lang="en-US" sz="2100"/>
                <a:t>Predictor</a:t>
              </a:r>
              <a:r>
                <a:rPr lang="en-US" sz="2100"/>
                <a:t> Architecture</a:t>
              </a:r>
              <a:endParaRPr/>
            </a:p>
          </p:txBody>
        </p:sp>
        <p:sp>
          <p:nvSpPr>
            <p:cNvPr id="39" name="Google Shape;39;p1"/>
            <p:cNvSpPr txBox="1"/>
            <p:nvPr/>
          </p:nvSpPr>
          <p:spPr>
            <a:xfrm>
              <a:off x="22923625" y="14623788"/>
              <a:ext cx="9039600" cy="1579200"/>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344854"/>
                </a:buClr>
                <a:buSzPts val="2100"/>
                <a:buFont typeface="Arial"/>
                <a:buNone/>
              </a:pPr>
              <a:r>
                <a:rPr lang="en-US" sz="2100">
                  <a:solidFill>
                    <a:srgbClr val="344854"/>
                  </a:solidFill>
                </a:rPr>
                <a:t>The predictor architecture is a Swin Transformer from Liu et al. (2021) with 4 Swin block layers, an input and output dimension of 64x10 frames, and a </a:t>
              </a:r>
              <a:r>
                <a:rPr lang="en-US" sz="2100">
                  <a:solidFill>
                    <a:srgbClr val="344854"/>
                  </a:solidFill>
                </a:rPr>
                <a:t>hidden dimension of 64. The goal of a small hidden dimension in the predictor is to force the model to only learn key physical quantities.</a:t>
              </a:r>
              <a:endParaRPr/>
            </a:p>
          </p:txBody>
        </p:sp>
      </p:grpSp>
      <p:sp>
        <p:nvSpPr>
          <p:cNvPr id="40" name="Google Shape;40;p1"/>
          <p:cNvSpPr txBox="1"/>
          <p:nvPr/>
        </p:nvSpPr>
        <p:spPr>
          <a:xfrm>
            <a:off x="12019551" y="20299652"/>
            <a:ext cx="9029700" cy="6927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344854"/>
              </a:buClr>
              <a:buSzPts val="1300"/>
              <a:buFont typeface="Arial"/>
              <a:buNone/>
            </a:pPr>
            <a:r>
              <a:rPr lang="en-US" sz="1300">
                <a:solidFill>
                  <a:srgbClr val="344854"/>
                </a:solidFill>
              </a:rPr>
              <a:t>Predicting the next 10 frames from the input frames. Row 1 is the input sequence (frames 0-&gt;9), row 2 is the </a:t>
            </a:r>
            <a:r>
              <a:rPr lang="en-US" sz="1300">
                <a:solidFill>
                  <a:srgbClr val="344854"/>
                </a:solidFill>
              </a:rPr>
              <a:t>output</a:t>
            </a:r>
            <a:r>
              <a:rPr lang="en-US" sz="1300">
                <a:solidFill>
                  <a:srgbClr val="344854"/>
                </a:solidFill>
              </a:rPr>
              <a:t> of the model (predicted frames 10-19), row 3 is the true frames (10-19), and row 4 is the what the model predicts will happen for frames (20-29) using it’s own predicted frames as input.</a:t>
            </a:r>
            <a:endParaRPr/>
          </a:p>
        </p:txBody>
      </p:sp>
      <p:pic>
        <p:nvPicPr>
          <p:cNvPr id="41" name="Google Shape;41;p1"/>
          <p:cNvPicPr preferRelativeResize="0"/>
          <p:nvPr/>
        </p:nvPicPr>
        <p:blipFill rotWithShape="1">
          <a:blip r:embed="rId5">
            <a:alphaModFix/>
          </a:blip>
          <a:srcRect b="13636" l="0" r="0" t="17316"/>
          <a:stretch/>
        </p:blipFill>
        <p:spPr>
          <a:xfrm>
            <a:off x="11386676" y="4279850"/>
            <a:ext cx="10295450" cy="749725"/>
          </a:xfrm>
          <a:prstGeom prst="rect">
            <a:avLst/>
          </a:prstGeom>
          <a:noFill/>
          <a:ln cap="flat" cmpd="sng" w="38100">
            <a:solidFill>
              <a:schemeClr val="dk1"/>
            </a:solidFill>
            <a:prstDash val="solid"/>
            <a:round/>
            <a:headEnd len="sm" w="sm" type="none"/>
            <a:tailEnd len="sm" w="sm" type="none"/>
          </a:ln>
        </p:spPr>
      </p:pic>
      <p:pic>
        <p:nvPicPr>
          <p:cNvPr id="42" name="Google Shape;42;p1"/>
          <p:cNvPicPr preferRelativeResize="0"/>
          <p:nvPr/>
        </p:nvPicPr>
        <p:blipFill rotWithShape="1">
          <a:blip r:embed="rId6">
            <a:alphaModFix/>
          </a:blip>
          <a:srcRect b="18710" l="0" r="0" t="8851"/>
          <a:stretch/>
        </p:blipFill>
        <p:spPr>
          <a:xfrm>
            <a:off x="11386676" y="5342263"/>
            <a:ext cx="10295450" cy="855713"/>
          </a:xfrm>
          <a:prstGeom prst="rect">
            <a:avLst/>
          </a:prstGeom>
          <a:noFill/>
          <a:ln cap="flat" cmpd="sng" w="38100">
            <a:solidFill>
              <a:schemeClr val="dk1"/>
            </a:solidFill>
            <a:prstDash val="solid"/>
            <a:round/>
            <a:headEnd len="sm" w="sm" type="none"/>
            <a:tailEnd len="sm" w="sm" type="none"/>
          </a:ln>
        </p:spPr>
      </p:pic>
      <p:pic>
        <p:nvPicPr>
          <p:cNvPr id="43" name="Google Shape;43;p1"/>
          <p:cNvPicPr preferRelativeResize="0"/>
          <p:nvPr/>
        </p:nvPicPr>
        <p:blipFill rotWithShape="1">
          <a:blip r:embed="rId7">
            <a:alphaModFix/>
          </a:blip>
          <a:srcRect b="24345" l="0" r="0" t="0"/>
          <a:stretch/>
        </p:blipFill>
        <p:spPr>
          <a:xfrm>
            <a:off x="11386676" y="6510674"/>
            <a:ext cx="10295450" cy="855700"/>
          </a:xfrm>
          <a:prstGeom prst="rect">
            <a:avLst/>
          </a:prstGeom>
          <a:noFill/>
          <a:ln cap="flat" cmpd="sng" w="38100">
            <a:solidFill>
              <a:schemeClr val="dk1"/>
            </a:solidFill>
            <a:prstDash val="solid"/>
            <a:round/>
            <a:headEnd len="sm" w="sm" type="none"/>
            <a:tailEnd len="sm" w="sm" type="none"/>
          </a:ln>
        </p:spPr>
      </p:pic>
      <p:pic>
        <p:nvPicPr>
          <p:cNvPr id="44" name="Google Shape;44;p1"/>
          <p:cNvPicPr preferRelativeResize="0"/>
          <p:nvPr/>
        </p:nvPicPr>
        <p:blipFill rotWithShape="1">
          <a:blip r:embed="rId8">
            <a:alphaModFix/>
          </a:blip>
          <a:srcRect b="8054" l="1826" r="0" t="0"/>
          <a:stretch/>
        </p:blipFill>
        <p:spPr>
          <a:xfrm>
            <a:off x="11400300" y="7685300"/>
            <a:ext cx="10295450" cy="979294"/>
          </a:xfrm>
          <a:prstGeom prst="rect">
            <a:avLst/>
          </a:prstGeom>
          <a:noFill/>
          <a:ln cap="flat" cmpd="sng" w="38100">
            <a:solidFill>
              <a:schemeClr val="dk1"/>
            </a:solidFill>
            <a:prstDash val="solid"/>
            <a:round/>
            <a:headEnd len="sm" w="sm" type="none"/>
            <a:tailEnd len="sm" w="sm" type="none"/>
          </a:ln>
        </p:spPr>
      </p:pic>
      <p:pic>
        <p:nvPicPr>
          <p:cNvPr id="45" name="Google Shape;45;p1"/>
          <p:cNvPicPr preferRelativeResize="0"/>
          <p:nvPr/>
        </p:nvPicPr>
        <p:blipFill rotWithShape="1">
          <a:blip r:embed="rId9">
            <a:alphaModFix/>
          </a:blip>
          <a:srcRect b="14748" l="0" r="0" t="0"/>
          <a:stretch/>
        </p:blipFill>
        <p:spPr>
          <a:xfrm>
            <a:off x="13793440" y="9967513"/>
            <a:ext cx="5481923" cy="851175"/>
          </a:xfrm>
          <a:prstGeom prst="rect">
            <a:avLst/>
          </a:prstGeom>
          <a:noFill/>
          <a:ln cap="flat" cmpd="sng" w="38100">
            <a:solidFill>
              <a:schemeClr val="dk1"/>
            </a:solidFill>
            <a:prstDash val="solid"/>
            <a:round/>
            <a:headEnd len="sm" w="sm" type="none"/>
            <a:tailEnd len="sm" w="sm" type="none"/>
          </a:ln>
        </p:spPr>
      </p:pic>
      <p:pic>
        <p:nvPicPr>
          <p:cNvPr id="46" name="Google Shape;46;p1"/>
          <p:cNvPicPr preferRelativeResize="0"/>
          <p:nvPr/>
        </p:nvPicPr>
        <p:blipFill>
          <a:blip r:embed="rId10">
            <a:alphaModFix/>
          </a:blip>
          <a:stretch>
            <a:fillRect/>
          </a:stretch>
        </p:blipFill>
        <p:spPr>
          <a:xfrm>
            <a:off x="13793440" y="11778804"/>
            <a:ext cx="5481923" cy="770897"/>
          </a:xfrm>
          <a:prstGeom prst="rect">
            <a:avLst/>
          </a:prstGeom>
          <a:noFill/>
          <a:ln cap="flat" cmpd="sng" w="38100">
            <a:solidFill>
              <a:schemeClr val="dk1"/>
            </a:solidFill>
            <a:prstDash val="solid"/>
            <a:round/>
            <a:headEnd len="sm" w="sm" type="none"/>
            <a:tailEnd len="sm" w="sm" type="none"/>
          </a:ln>
        </p:spPr>
      </p:pic>
      <p:pic>
        <p:nvPicPr>
          <p:cNvPr id="47" name="Google Shape;47;p1"/>
          <p:cNvPicPr preferRelativeResize="0"/>
          <p:nvPr/>
        </p:nvPicPr>
        <p:blipFill>
          <a:blip r:embed="rId11">
            <a:alphaModFix/>
          </a:blip>
          <a:stretch>
            <a:fillRect/>
          </a:stretch>
        </p:blipFill>
        <p:spPr>
          <a:xfrm>
            <a:off x="13793440" y="10855755"/>
            <a:ext cx="5481923" cy="885983"/>
          </a:xfrm>
          <a:prstGeom prst="rect">
            <a:avLst/>
          </a:prstGeom>
          <a:noFill/>
          <a:ln cap="flat" cmpd="sng" w="38100">
            <a:solidFill>
              <a:schemeClr val="dk1"/>
            </a:solidFill>
            <a:prstDash val="solid"/>
            <a:round/>
            <a:headEnd len="sm" w="sm" type="none"/>
            <a:tailEnd len="sm" w="sm" type="none"/>
          </a:ln>
        </p:spPr>
      </p:pic>
      <p:sp>
        <p:nvSpPr>
          <p:cNvPr id="48" name="Google Shape;48;p1"/>
          <p:cNvSpPr txBox="1"/>
          <p:nvPr/>
        </p:nvSpPr>
        <p:spPr>
          <a:xfrm>
            <a:off x="11386701" y="12820700"/>
            <a:ext cx="10295400" cy="532500"/>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344854"/>
              </a:buClr>
              <a:buSzPts val="2100"/>
              <a:buFont typeface="Arial"/>
              <a:buNone/>
            </a:pPr>
            <a:r>
              <a:rPr lang="en-US" sz="1300">
                <a:solidFill>
                  <a:srgbClr val="344854"/>
                </a:solidFill>
              </a:rPr>
              <a:t>Set of frame predictions from a 100 frame long test. The first 10 frames were given to the model, at which point it began generating frames. Row 1 shows the first 5 generated frames. Row 2 shows generated frames 45-50. Row 3 shows the final 5 generated frames.</a:t>
            </a:r>
            <a:endParaRPr sz="1300"/>
          </a:p>
        </p:txBody>
      </p:sp>
      <p:pic>
        <p:nvPicPr>
          <p:cNvPr id="49" name="Google Shape;49;p1"/>
          <p:cNvPicPr preferRelativeResize="0"/>
          <p:nvPr/>
        </p:nvPicPr>
        <p:blipFill>
          <a:blip r:embed="rId12">
            <a:alphaModFix/>
          </a:blip>
          <a:stretch>
            <a:fillRect/>
          </a:stretch>
        </p:blipFill>
        <p:spPr>
          <a:xfrm>
            <a:off x="22198227" y="1933763"/>
            <a:ext cx="10382252" cy="7077075"/>
          </a:xfrm>
          <a:prstGeom prst="rect">
            <a:avLst/>
          </a:prstGeom>
          <a:noFill/>
          <a:ln>
            <a:noFill/>
          </a:ln>
        </p:spPr>
      </p:pic>
      <p:sp>
        <p:nvSpPr>
          <p:cNvPr id="50" name="Google Shape;50;p1"/>
          <p:cNvSpPr txBox="1"/>
          <p:nvPr/>
        </p:nvSpPr>
        <p:spPr>
          <a:xfrm>
            <a:off x="13317051" y="10060888"/>
            <a:ext cx="4764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latin typeface="Calibri"/>
                <a:ea typeface="Calibri"/>
                <a:cs typeface="Calibri"/>
                <a:sym typeface="Calibri"/>
              </a:rPr>
              <a:t>1</a:t>
            </a:r>
            <a:endParaRPr sz="2200">
              <a:latin typeface="Calibri"/>
              <a:ea typeface="Calibri"/>
              <a:cs typeface="Calibri"/>
              <a:sym typeface="Calibri"/>
            </a:endParaRPr>
          </a:p>
        </p:txBody>
      </p:sp>
      <p:sp>
        <p:nvSpPr>
          <p:cNvPr id="51" name="Google Shape;51;p1"/>
          <p:cNvSpPr txBox="1"/>
          <p:nvPr/>
        </p:nvSpPr>
        <p:spPr>
          <a:xfrm>
            <a:off x="13317051" y="11006650"/>
            <a:ext cx="4764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latin typeface="Calibri"/>
                <a:ea typeface="Calibri"/>
                <a:cs typeface="Calibri"/>
                <a:sym typeface="Calibri"/>
              </a:rPr>
              <a:t>2</a:t>
            </a:r>
            <a:endParaRPr sz="2200">
              <a:latin typeface="Calibri"/>
              <a:ea typeface="Calibri"/>
              <a:cs typeface="Calibri"/>
              <a:sym typeface="Calibri"/>
            </a:endParaRPr>
          </a:p>
        </p:txBody>
      </p:sp>
      <p:sp>
        <p:nvSpPr>
          <p:cNvPr id="52" name="Google Shape;52;p1"/>
          <p:cNvSpPr txBox="1"/>
          <p:nvPr/>
        </p:nvSpPr>
        <p:spPr>
          <a:xfrm>
            <a:off x="13317051" y="11883425"/>
            <a:ext cx="4764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latin typeface="Calibri"/>
                <a:ea typeface="Calibri"/>
                <a:cs typeface="Calibri"/>
                <a:sym typeface="Calibri"/>
              </a:rPr>
              <a:t>3</a:t>
            </a:r>
            <a:endParaRPr sz="2200">
              <a:latin typeface="Calibri"/>
              <a:ea typeface="Calibri"/>
              <a:cs typeface="Calibri"/>
              <a:sym typeface="Calibri"/>
            </a:endParaRPr>
          </a:p>
        </p:txBody>
      </p:sp>
      <p:pic>
        <p:nvPicPr>
          <p:cNvPr id="53" name="Google Shape;53;p1"/>
          <p:cNvPicPr preferRelativeResize="0"/>
          <p:nvPr/>
        </p:nvPicPr>
        <p:blipFill>
          <a:blip r:embed="rId13">
            <a:alphaModFix/>
          </a:blip>
          <a:stretch>
            <a:fillRect/>
          </a:stretch>
        </p:blipFill>
        <p:spPr>
          <a:xfrm>
            <a:off x="4029943" y="10383193"/>
            <a:ext cx="2917864" cy="516557"/>
          </a:xfrm>
          <a:prstGeom prst="rect">
            <a:avLst/>
          </a:prstGeom>
          <a:noFill/>
          <a:ln>
            <a:noFill/>
          </a:ln>
        </p:spPr>
      </p:pic>
      <p:grpSp>
        <p:nvGrpSpPr>
          <p:cNvPr id="54" name="Google Shape;54;p1"/>
          <p:cNvGrpSpPr/>
          <p:nvPr/>
        </p:nvGrpSpPr>
        <p:grpSpPr>
          <a:xfrm>
            <a:off x="813527" y="9043923"/>
            <a:ext cx="9350695" cy="3307977"/>
            <a:chOff x="919950" y="8550385"/>
            <a:chExt cx="9350695" cy="3307977"/>
          </a:xfrm>
        </p:grpSpPr>
        <p:pic>
          <p:nvPicPr>
            <p:cNvPr id="55" name="Google Shape;55;p1"/>
            <p:cNvPicPr preferRelativeResize="0"/>
            <p:nvPr/>
          </p:nvPicPr>
          <p:blipFill>
            <a:blip r:embed="rId14">
              <a:alphaModFix/>
            </a:blip>
            <a:stretch>
              <a:fillRect/>
            </a:stretch>
          </p:blipFill>
          <p:spPr>
            <a:xfrm>
              <a:off x="1250725" y="8972752"/>
              <a:ext cx="4816569" cy="837659"/>
            </a:xfrm>
            <a:prstGeom prst="rect">
              <a:avLst/>
            </a:prstGeom>
            <a:noFill/>
            <a:ln>
              <a:noFill/>
            </a:ln>
          </p:spPr>
        </p:pic>
        <p:sp>
          <p:nvSpPr>
            <p:cNvPr id="56" name="Google Shape;56;p1"/>
            <p:cNvSpPr txBox="1"/>
            <p:nvPr/>
          </p:nvSpPr>
          <p:spPr>
            <a:xfrm>
              <a:off x="1206145" y="8550385"/>
              <a:ext cx="9064500" cy="4770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3400"/>
                <a:buFont typeface="Arial"/>
                <a:buNone/>
              </a:pPr>
              <a:r>
                <a:rPr lang="en-US" sz="2500"/>
                <a:t>VCR Loss</a:t>
              </a:r>
              <a:endParaRPr sz="2500"/>
            </a:p>
          </p:txBody>
        </p:sp>
        <p:pic>
          <p:nvPicPr>
            <p:cNvPr id="57" name="Google Shape;57;p1"/>
            <p:cNvPicPr preferRelativeResize="0"/>
            <p:nvPr/>
          </p:nvPicPr>
          <p:blipFill rotWithShape="1">
            <a:blip r:embed="rId15">
              <a:alphaModFix/>
            </a:blip>
            <a:srcRect b="0" l="0" r="418" t="0"/>
            <a:stretch/>
          </p:blipFill>
          <p:spPr>
            <a:xfrm>
              <a:off x="6297305" y="8993693"/>
              <a:ext cx="3447670" cy="795776"/>
            </a:xfrm>
            <a:prstGeom prst="rect">
              <a:avLst/>
            </a:prstGeom>
            <a:noFill/>
            <a:ln>
              <a:noFill/>
            </a:ln>
          </p:spPr>
        </p:pic>
        <p:sp>
          <p:nvSpPr>
            <p:cNvPr id="58" name="Google Shape;58;p1"/>
            <p:cNvSpPr txBox="1"/>
            <p:nvPr/>
          </p:nvSpPr>
          <p:spPr>
            <a:xfrm>
              <a:off x="919950" y="10823962"/>
              <a:ext cx="9130800" cy="1034400"/>
            </a:xfrm>
            <a:prstGeom prst="rect">
              <a:avLst/>
            </a:prstGeom>
            <a:noFill/>
            <a:ln>
              <a:noFill/>
            </a:ln>
          </p:spPr>
          <p:txBody>
            <a:bodyPr anchorCtr="0" anchor="t" bIns="45700" lIns="45700" spcFirstLastPara="1" rIns="45700" wrap="square" tIns="45700">
              <a:spAutoFit/>
            </a:bodyPr>
            <a:lstStyle/>
            <a:p>
              <a:pPr indent="-342900" lvl="0" marL="457200" marR="0" rtl="0" algn="l">
                <a:lnSpc>
                  <a:spcPct val="120000"/>
                </a:lnSpc>
                <a:spcBef>
                  <a:spcPts val="0"/>
                </a:spcBef>
                <a:spcAft>
                  <a:spcPts val="0"/>
                </a:spcAft>
                <a:buClr>
                  <a:srgbClr val="344854"/>
                </a:buClr>
                <a:buSzPts val="1800"/>
                <a:buChar char="●"/>
              </a:pPr>
              <a:r>
                <a:rPr lang="en-US" sz="1800">
                  <a:solidFill>
                    <a:srgbClr val="344854"/>
                  </a:solidFill>
                </a:rPr>
                <a:t>Force variance to be above threshold theta to prevent representation collapse (simple solution of all 0)</a:t>
              </a:r>
              <a:endParaRPr sz="1800">
                <a:solidFill>
                  <a:srgbClr val="344854"/>
                </a:solidFill>
              </a:endParaRPr>
            </a:p>
            <a:p>
              <a:pPr indent="-342900" lvl="0" marL="457200" marR="0" rtl="0" algn="l">
                <a:lnSpc>
                  <a:spcPct val="120000"/>
                </a:lnSpc>
                <a:spcBef>
                  <a:spcPts val="0"/>
                </a:spcBef>
                <a:spcAft>
                  <a:spcPts val="0"/>
                </a:spcAft>
                <a:buClr>
                  <a:srgbClr val="344854"/>
                </a:buClr>
                <a:buSzPts val="1800"/>
                <a:buChar char="●"/>
              </a:pPr>
              <a:r>
                <a:rPr lang="en-US" sz="1800">
                  <a:solidFill>
                    <a:srgbClr val="344854"/>
                  </a:solidFill>
                </a:rPr>
                <a:t>Minimize covariance to make sure that features are distinct from one another</a:t>
              </a:r>
              <a:endParaRPr sz="1800">
                <a:solidFill>
                  <a:srgbClr val="344854"/>
                </a:solidFill>
              </a:endParaRPr>
            </a:p>
          </p:txBody>
        </p:sp>
        <p:sp>
          <p:nvSpPr>
            <p:cNvPr id="59" name="Google Shape;59;p1"/>
            <p:cNvSpPr txBox="1"/>
            <p:nvPr/>
          </p:nvSpPr>
          <p:spPr>
            <a:xfrm>
              <a:off x="2505975" y="10349776"/>
              <a:ext cx="6191100" cy="41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Loss from Drozdov, K. et al. (2024)</a:t>
              </a:r>
              <a:endParaRPr sz="1300">
                <a:latin typeface="Calibri"/>
                <a:ea typeface="Calibri"/>
                <a:cs typeface="Calibri"/>
                <a:sym typeface="Calibri"/>
              </a:endParaRPr>
            </a:p>
          </p:txBody>
        </p:sp>
      </p:grpSp>
      <p:sp>
        <p:nvSpPr>
          <p:cNvPr id="60" name="Google Shape;60;p1"/>
          <p:cNvSpPr/>
          <p:nvPr/>
        </p:nvSpPr>
        <p:spPr>
          <a:xfrm>
            <a:off x="3663135" y="17966899"/>
            <a:ext cx="3651480" cy="0"/>
          </a:xfrm>
          <a:custGeom>
            <a:rect b="b" l="l" r="r" t="t"/>
            <a:pathLst>
              <a:path extrusionOk="0" h="120000" w="21600">
                <a:moveTo>
                  <a:pt x="0" y="0"/>
                </a:moveTo>
                <a:lnTo>
                  <a:pt x="21600" y="0"/>
                </a:lnTo>
                <a:lnTo>
                  <a:pt x="21600" y="0"/>
                </a:lnTo>
                <a:lnTo>
                  <a:pt x="0" y="0"/>
                </a:lnTo>
                <a:close/>
              </a:path>
            </a:pathLst>
          </a:cu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677B8C"/>
              </a:buClr>
              <a:buSzPts val="1100"/>
              <a:buFont typeface="Arial"/>
              <a:buNone/>
            </a:pPr>
            <a:r>
              <a:rPr b="0" i="0" lang="en-US" sz="1100" u="none" cap="none" strike="noStrike">
                <a:solidFill>
                  <a:srgbClr val="677B8C"/>
                </a:solidFill>
                <a:latin typeface="Arial"/>
                <a:ea typeface="Arial"/>
                <a:cs typeface="Arial"/>
                <a:sym typeface="Arial"/>
              </a:rPr>
              <a:t>image</a:t>
            </a:r>
            <a:endParaRPr/>
          </a:p>
        </p:txBody>
      </p:sp>
      <p:grpSp>
        <p:nvGrpSpPr>
          <p:cNvPr id="61" name="Google Shape;61;p1"/>
          <p:cNvGrpSpPr/>
          <p:nvPr/>
        </p:nvGrpSpPr>
        <p:grpSpPr>
          <a:xfrm>
            <a:off x="1526806" y="16140963"/>
            <a:ext cx="7924138" cy="3962113"/>
            <a:chOff x="1556350" y="15913088"/>
            <a:chExt cx="7924138" cy="3962113"/>
          </a:xfrm>
        </p:grpSpPr>
        <p:pic>
          <p:nvPicPr>
            <p:cNvPr id="62" name="Google Shape;62;p1"/>
            <p:cNvPicPr preferRelativeResize="0"/>
            <p:nvPr/>
          </p:nvPicPr>
          <p:blipFill>
            <a:blip r:embed="rId16">
              <a:alphaModFix/>
            </a:blip>
            <a:stretch>
              <a:fillRect/>
            </a:stretch>
          </p:blipFill>
          <p:spPr>
            <a:xfrm>
              <a:off x="1556538" y="15913088"/>
              <a:ext cx="7923950" cy="3961975"/>
            </a:xfrm>
            <a:prstGeom prst="rect">
              <a:avLst/>
            </a:prstGeom>
            <a:solidFill>
              <a:srgbClr val="CCD1D4"/>
            </a:solidFill>
            <a:ln>
              <a:noFill/>
            </a:ln>
          </p:spPr>
        </p:pic>
        <p:sp>
          <p:nvSpPr>
            <p:cNvPr id="63" name="Google Shape;63;p1"/>
            <p:cNvSpPr/>
            <p:nvPr/>
          </p:nvSpPr>
          <p:spPr>
            <a:xfrm>
              <a:off x="1556350" y="15913100"/>
              <a:ext cx="7923900" cy="3962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64" name="Google Shape;64;p1"/>
          <p:cNvGrpSpPr/>
          <p:nvPr/>
        </p:nvGrpSpPr>
        <p:grpSpPr>
          <a:xfrm>
            <a:off x="22869553" y="14923436"/>
            <a:ext cx="9039600" cy="1806901"/>
            <a:chOff x="22918775" y="11375924"/>
            <a:chExt cx="9039600" cy="1806901"/>
          </a:xfrm>
        </p:grpSpPr>
        <p:sp>
          <p:nvSpPr>
            <p:cNvPr id="65" name="Google Shape;65;p1"/>
            <p:cNvSpPr txBox="1"/>
            <p:nvPr/>
          </p:nvSpPr>
          <p:spPr>
            <a:xfrm>
              <a:off x="22928580" y="11375924"/>
              <a:ext cx="9029700" cy="615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n-US" sz="3400"/>
                <a:t>Future Work</a:t>
              </a:r>
              <a:endParaRPr/>
            </a:p>
          </p:txBody>
        </p:sp>
        <p:sp>
          <p:nvSpPr>
            <p:cNvPr id="66" name="Google Shape;66;p1"/>
            <p:cNvSpPr txBox="1"/>
            <p:nvPr/>
          </p:nvSpPr>
          <p:spPr>
            <a:xfrm>
              <a:off x="22918775" y="11991525"/>
              <a:ext cx="9039600" cy="1191300"/>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344854"/>
                </a:buClr>
                <a:buSzPts val="2100"/>
                <a:buFont typeface="Arial"/>
                <a:buNone/>
              </a:pPr>
              <a:r>
                <a:rPr lang="en-US" sz="2100"/>
                <a:t>A set of 7 linear probing layers will be added for extracting numerical values for position and velocity of shapes. This will be used to evaluate the accuracy of the model’s understanding of physics.</a:t>
              </a:r>
              <a:endParaRPr sz="2100"/>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